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68" r:id="rId12"/>
    <p:sldId id="269" r:id="rId13"/>
    <p:sldId id="2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97"/>
    <p:restoredTop sz="94668"/>
  </p:normalViewPr>
  <p:slideViewPr>
    <p:cSldViewPr snapToGrid="0">
      <p:cViewPr>
        <p:scale>
          <a:sx n="132" d="100"/>
          <a:sy n="132" d="100"/>
        </p:scale>
        <p:origin x="4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E2F2B-59EC-594E-9E2C-B4140F9D66C5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BDF72-D214-1547-9379-4DA448924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00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6C92C-0DB4-DD9D-781A-BC28DBF85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AA99B1-D058-D7E0-724D-BD0CCEC40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53C71-1F76-B926-ACF3-B784CB41D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EA697-A2DD-984B-ADCF-FC58E626C2C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2B24F-0DF5-0E45-124C-0EA9B5DEA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ECC91-E9C4-7833-99E0-10869764F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062D-4350-404C-B191-1F5125E4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033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CE5C6-2AAE-C124-F4EE-A7F7E8E91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FE9F2-955B-9C10-C11D-9376C7D09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8FBB1-7517-D9DB-21A8-A0D6E692E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EA697-A2DD-984B-ADCF-FC58E626C2C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B61F0-099B-5821-EF11-9C0166E0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C178E-6128-9EB4-F795-179EACB82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062D-4350-404C-B191-1F5125E4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29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F3ED2-DF0C-064B-8170-4BD22269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6A1B2-932E-14EE-8AEB-AAC99E383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FABE1-D809-EE38-04A5-5084C526C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EA697-A2DD-984B-ADCF-FC58E626C2C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F9720-C4E4-AB3D-14F2-E8B04EEC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74634-390C-AB74-C1C7-F1D4DF78B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062D-4350-404C-B191-1F5125E4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56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D48C2-C6B9-6882-C164-2E9C2830C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A35FD-74F8-F2A1-B4CF-FA9261DE33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CDF00-C409-1829-8553-988EDDC7A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E43A8-F9E3-F10D-1CB6-183E65587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EA697-A2DD-984B-ADCF-FC58E626C2C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DADC1-72FB-6569-8155-A7A539A4E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10390-155D-4A04-6E3C-BF8FA39BA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062D-4350-404C-B191-1F5125E4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20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98AC1-E976-0D0C-8C65-2C9138D99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1FF11-D187-E1DD-87DB-28CCCAB17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03056-0899-52FE-0018-51991CEDC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99F585-9A90-21E7-43F1-95B1839B6C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5C9821-84C2-6285-E16B-7BBC631E57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55CC0A-CB7C-1BA8-30C6-CD9C0AE71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EA697-A2DD-984B-ADCF-FC58E626C2C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34AE33-20B5-1FFC-93A2-B1EBADD5A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B7A26F-37D0-0364-2D8C-3E3410D87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062D-4350-404C-B191-1F5125E4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936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52D34-41C6-D079-5A89-27A2C063E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E58EA6-9226-56B6-FD32-63110607E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EA697-A2DD-984B-ADCF-FC58E626C2C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EEAE98-7897-1C8D-6691-6CAC18F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10161-9092-AB63-0BDF-37F0928D6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062D-4350-404C-B191-1F5125E4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26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E4F53-BB4F-B205-6196-5645BA0D4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EA697-A2DD-984B-ADCF-FC58E626C2C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6A7642-D77E-A4E7-9EE0-4E96EF86D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CE7DD-968B-8DB9-B95D-C9D0F1ED4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062D-4350-404C-B191-1F5125E4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36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7B6AE-3EEC-1C48-C73F-370726DAF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88FB7-4034-F4B3-F354-A10D3B8F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2260E-9F60-4FB4-40A3-57735284C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670D2-F488-F0F5-3071-B210829C2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EA697-A2DD-984B-ADCF-FC58E626C2C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15E85-5D57-F7C2-4A74-78039E4A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71324-1F37-6E7F-BCD4-D9565D306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062D-4350-404C-B191-1F5125E4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919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3B2CC-33BE-5AE2-7980-635BA18A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C802C4-BDE9-F398-8676-33A10D7E7E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8C1DD-83F3-5AE0-5E79-BDFEFF9BA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D6D42-C06F-EFAF-866B-F3CB126B8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EA697-A2DD-984B-ADCF-FC58E626C2C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3E2B9-8BDB-E90E-F6D7-C53F87881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3F9F0-EE2D-8298-9574-85751DAF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062D-4350-404C-B191-1F5125E4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211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AB418-5AA9-13D5-7160-AA94BD169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67ADA-793F-21EC-065A-FC4B13A18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E32D7-FB4D-8B6C-1DB0-067F6914F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EA697-A2DD-984B-ADCF-FC58E626C2C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C433C-989A-A374-CF79-635E8A20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E1B44-6723-735A-3A36-81B87B9B7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062D-4350-404C-B191-1F5125E4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78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BCBF81-CE5E-7968-003F-6BE7C0AC3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5105C-CAC0-C788-5A14-50B010DE0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AE2B7-356B-BA32-2DC0-CAD363A9D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EA697-A2DD-984B-ADCF-FC58E626C2C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6415B-EF67-BD24-A4D0-65887045E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9C170-D72B-A329-C9AC-6E1633628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062D-4350-404C-B191-1F5125E4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54EB61-6DED-5E16-E240-8D63DEB3F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EA93D-0903-A10E-F470-84588EF3C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6E842-51D2-D3E0-CEAE-45882F0949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EA697-A2DD-984B-ADCF-FC58E626C2C9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68BF7-465A-F4C0-6A09-B1716AA66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C87EC-D1CA-CC92-B634-FB5CC014B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9062D-4350-404C-B191-1F5125E4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2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DB68B-A823-50A9-E43B-D97A21D484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MTG Differential Gene Expression in Alzheimer Disease by cortical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614EE3-87BF-396D-D537-D3E5BBE315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Couger Jaramillo</a:t>
            </a:r>
          </a:p>
          <a:p>
            <a:r>
              <a:rPr lang="en-US" dirty="0"/>
              <a:t>16 Jan 2026</a:t>
            </a:r>
          </a:p>
        </p:txBody>
      </p:sp>
    </p:spTree>
    <p:extLst>
      <p:ext uri="{BB962C8B-B14F-4D97-AF65-F5344CB8AC3E}">
        <p14:creationId xmlns:p14="http://schemas.microsoft.com/office/powerpoint/2010/main" val="2970920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C8CE4-023E-7C0C-2704-8EB303D7F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Dataset Selection</a:t>
            </a:r>
          </a:p>
        </p:txBody>
      </p:sp>
      <p:pic>
        <p:nvPicPr>
          <p:cNvPr id="4" name="Picture 3" descr="A screenshot of a document&#10;&#10;AI-generated content may be incorrect.">
            <a:extLst>
              <a:ext uri="{FF2B5EF4-FFF2-40B4-BE49-F238E27FC236}">
                <a16:creationId xmlns:a16="http://schemas.microsoft.com/office/drawing/2014/main" id="{0F7BD14F-3F3F-D98C-0574-021DF1419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22" y="161204"/>
            <a:ext cx="3251456" cy="6535591"/>
          </a:xfrm>
          <a:prstGeom prst="rect">
            <a:avLst/>
          </a:prstGeom>
        </p:spPr>
      </p:pic>
      <p:pic>
        <p:nvPicPr>
          <p:cNvPr id="6" name="Picture 5" descr="A table of medical information&#10;&#10;AI-generated content may be incorrect.">
            <a:extLst>
              <a:ext uri="{FF2B5EF4-FFF2-40B4-BE49-F238E27FC236}">
                <a16:creationId xmlns:a16="http://schemas.microsoft.com/office/drawing/2014/main" id="{73D10AB3-0820-32EB-CB18-B975E6ABB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878" y="1128462"/>
            <a:ext cx="7772400" cy="521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229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CF9DE-6E23-6091-E925-D24020B8E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10x Data</a:t>
            </a:r>
          </a:p>
        </p:txBody>
      </p:sp>
      <p:pic>
        <p:nvPicPr>
          <p:cNvPr id="6" name="Content Placeholder 5" descr="A map of the state of arizona&#10;&#10;AI-generated content may be incorrect.">
            <a:extLst>
              <a:ext uri="{FF2B5EF4-FFF2-40B4-BE49-F238E27FC236}">
                <a16:creationId xmlns:a16="http://schemas.microsoft.com/office/drawing/2014/main" id="{BBA8AABA-083E-088A-8956-1D650473DE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398699"/>
            <a:ext cx="5181600" cy="3205189"/>
          </a:xfrm>
        </p:spPr>
      </p:pic>
      <p:pic>
        <p:nvPicPr>
          <p:cNvPr id="8" name="Content Placeholder 7" descr="A close-up of a grid&#10;&#10;AI-generated content may be incorrect.">
            <a:extLst>
              <a:ext uri="{FF2B5EF4-FFF2-40B4-BE49-F238E27FC236}">
                <a16:creationId xmlns:a16="http://schemas.microsoft.com/office/drawing/2014/main" id="{B5479C5E-85BF-E9D5-D7D1-716286D8DA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406101"/>
            <a:ext cx="5181600" cy="3190385"/>
          </a:xfrm>
        </p:spPr>
      </p:pic>
    </p:spTree>
    <p:extLst>
      <p:ext uri="{BB962C8B-B14F-4D97-AF65-F5344CB8AC3E}">
        <p14:creationId xmlns:p14="http://schemas.microsoft.com/office/powerpoint/2010/main" val="601793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352F1-EC1E-D4DF-5F0D-E44FC97F2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Data: control</a:t>
            </a:r>
          </a:p>
        </p:txBody>
      </p:sp>
      <p:pic>
        <p:nvPicPr>
          <p:cNvPr id="7" name="Content Placeholder 6" descr="A group of images of a person's brain&#10;&#10;AI-generated content may be incorrect.">
            <a:extLst>
              <a:ext uri="{FF2B5EF4-FFF2-40B4-BE49-F238E27FC236}">
                <a16:creationId xmlns:a16="http://schemas.microsoft.com/office/drawing/2014/main" id="{7689BF4B-AFE2-3FC3-B156-C90AEEE1FE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" t="2314" r="1377" b="2739"/>
          <a:stretch>
            <a:fillRect/>
          </a:stretch>
        </p:blipFill>
        <p:spPr>
          <a:xfrm>
            <a:off x="838200" y="2473693"/>
            <a:ext cx="5110213" cy="3041583"/>
          </a:xfrm>
        </p:spPr>
      </p:pic>
      <p:pic>
        <p:nvPicPr>
          <p:cNvPr id="9" name="Content Placeholder 8" descr="A graph of a function&#10;&#10;AI-generated content may be incorrect.">
            <a:extLst>
              <a:ext uri="{FF2B5EF4-FFF2-40B4-BE49-F238E27FC236}">
                <a16:creationId xmlns:a16="http://schemas.microsoft.com/office/drawing/2014/main" id="{A3F5CCCA-997C-5C4D-2A76-FD8ACC21B1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405242"/>
            <a:ext cx="5181600" cy="3192103"/>
          </a:xfrm>
        </p:spPr>
      </p:pic>
    </p:spTree>
    <p:extLst>
      <p:ext uri="{BB962C8B-B14F-4D97-AF65-F5344CB8AC3E}">
        <p14:creationId xmlns:p14="http://schemas.microsoft.com/office/powerpoint/2010/main" val="2867740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BD4A4-D8FA-0E5C-3297-0C339D5FE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00FA-EFAC-354C-D6D3-3A06A00A2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Data: AD</a:t>
            </a:r>
          </a:p>
        </p:txBody>
      </p:sp>
      <p:pic>
        <p:nvPicPr>
          <p:cNvPr id="6" name="Content Placeholder 5" descr="A group of black dots&#10;&#10;AI-generated content may be incorrect.">
            <a:extLst>
              <a:ext uri="{FF2B5EF4-FFF2-40B4-BE49-F238E27FC236}">
                <a16:creationId xmlns:a16="http://schemas.microsoft.com/office/drawing/2014/main" id="{24F941C8-112B-78D1-1121-756E7AA9CFA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2884"/>
          <a:stretch>
            <a:fillRect/>
          </a:stretch>
        </p:blipFill>
        <p:spPr>
          <a:xfrm>
            <a:off x="838200" y="2483318"/>
            <a:ext cx="5181600" cy="3128874"/>
          </a:xfrm>
        </p:spPr>
      </p:pic>
      <p:pic>
        <p:nvPicPr>
          <p:cNvPr id="8" name="Content Placeholder 7" descr="A graph of a graph of a function&#10;&#10;AI-generated content may be incorrect.">
            <a:extLst>
              <a:ext uri="{FF2B5EF4-FFF2-40B4-BE49-F238E27FC236}">
                <a16:creationId xmlns:a16="http://schemas.microsoft.com/office/drawing/2014/main" id="{D2245556-A6A8-440C-D492-D14085635E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2295"/>
          <a:stretch>
            <a:fillRect/>
          </a:stretch>
        </p:blipFill>
        <p:spPr>
          <a:xfrm>
            <a:off x="6172200" y="2473599"/>
            <a:ext cx="5181600" cy="3128875"/>
          </a:xfrm>
        </p:spPr>
      </p:pic>
    </p:spTree>
    <p:extLst>
      <p:ext uri="{BB962C8B-B14F-4D97-AF65-F5344CB8AC3E}">
        <p14:creationId xmlns:p14="http://schemas.microsoft.com/office/powerpoint/2010/main" val="3556930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F7014-3DBD-3535-96ED-558EE8E04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Data</a:t>
            </a:r>
          </a:p>
        </p:txBody>
      </p:sp>
      <p:pic>
        <p:nvPicPr>
          <p:cNvPr id="5" name="Content Placeholder 4" descr="A close-up of a diagram&#10;&#10;AI-generated content may be incorrect.">
            <a:extLst>
              <a:ext uri="{FF2B5EF4-FFF2-40B4-BE49-F238E27FC236}">
                <a16:creationId xmlns:a16="http://schemas.microsoft.com/office/drawing/2014/main" id="{6543A9FE-EA17-DDC1-F578-9218FAF2F0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285"/>
          <a:stretch>
            <a:fillRect/>
          </a:stretch>
        </p:blipFill>
        <p:spPr>
          <a:xfrm>
            <a:off x="2580683" y="1925053"/>
            <a:ext cx="7030634" cy="4251910"/>
          </a:xfrm>
        </p:spPr>
      </p:pic>
    </p:spTree>
    <p:extLst>
      <p:ext uri="{BB962C8B-B14F-4D97-AF65-F5344CB8AC3E}">
        <p14:creationId xmlns:p14="http://schemas.microsoft.com/office/powerpoint/2010/main" val="1138021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C5544-74C3-2066-EE5D-C50FBE7D3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 &amp; Clustering</a:t>
            </a:r>
          </a:p>
        </p:txBody>
      </p:sp>
      <p:pic>
        <p:nvPicPr>
          <p:cNvPr id="7" name="Content Placeholder 6" descr="A red dots on a white background&#10;&#10;AI-generated content may be incorrect.">
            <a:extLst>
              <a:ext uri="{FF2B5EF4-FFF2-40B4-BE49-F238E27FC236}">
                <a16:creationId xmlns:a16="http://schemas.microsoft.com/office/drawing/2014/main" id="{2EDCCA88-8075-53B2-DA5E-9DF837C84A8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656" t="3475"/>
          <a:stretch>
            <a:fillRect/>
          </a:stretch>
        </p:blipFill>
        <p:spPr>
          <a:xfrm>
            <a:off x="924024" y="2512194"/>
            <a:ext cx="5095775" cy="3089408"/>
          </a:xfrm>
        </p:spPr>
      </p:pic>
      <p:pic>
        <p:nvPicPr>
          <p:cNvPr id="9" name="Content Placeholder 8" descr="A graph of a line&#10;&#10;AI-generated content may be incorrect.">
            <a:extLst>
              <a:ext uri="{FF2B5EF4-FFF2-40B4-BE49-F238E27FC236}">
                <a16:creationId xmlns:a16="http://schemas.microsoft.com/office/drawing/2014/main" id="{3D5C4C87-E84E-DD17-8951-A85A8D5326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1508"/>
          <a:stretch>
            <a:fillRect/>
          </a:stretch>
        </p:blipFill>
        <p:spPr>
          <a:xfrm>
            <a:off x="6172200" y="2444817"/>
            <a:ext cx="5181600" cy="3161364"/>
          </a:xfrm>
        </p:spPr>
      </p:pic>
    </p:spTree>
    <p:extLst>
      <p:ext uri="{BB962C8B-B14F-4D97-AF65-F5344CB8AC3E}">
        <p14:creationId xmlns:p14="http://schemas.microsoft.com/office/powerpoint/2010/main" val="1970982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1388A-FA2A-D63B-893D-AE4FF8907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81CCE-0A6E-0DD4-5576-6F9F321A9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 &amp; Clustering</a:t>
            </a:r>
          </a:p>
        </p:txBody>
      </p:sp>
      <p:pic>
        <p:nvPicPr>
          <p:cNvPr id="16" name="Content Placeholder 1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BBD174C-13E6-168D-1A1F-06E006761A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697" t="3774" r="1923"/>
          <a:stretch>
            <a:fillRect/>
          </a:stretch>
        </p:blipFill>
        <p:spPr>
          <a:xfrm>
            <a:off x="6260123" y="2133599"/>
            <a:ext cx="5181600" cy="3198327"/>
          </a:xfrm>
        </p:spPr>
      </p:pic>
      <p:pic>
        <p:nvPicPr>
          <p:cNvPr id="14" name="Content Placeholder 13" descr="A group of colored dots&#10;&#10;AI-generated content may be incorrect.">
            <a:extLst>
              <a:ext uri="{FF2B5EF4-FFF2-40B4-BE49-F238E27FC236}">
                <a16:creationId xmlns:a16="http://schemas.microsoft.com/office/drawing/2014/main" id="{7F67CBAC-1242-4405-688D-2ABB43C45F4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923" t="2636" r="1697" b="-1"/>
          <a:stretch>
            <a:fillRect/>
          </a:stretch>
        </p:blipFill>
        <p:spPr>
          <a:xfrm>
            <a:off x="937846" y="2485291"/>
            <a:ext cx="4994032" cy="3114031"/>
          </a:xfrm>
        </p:spPr>
      </p:pic>
    </p:spTree>
    <p:extLst>
      <p:ext uri="{BB962C8B-B14F-4D97-AF65-F5344CB8AC3E}">
        <p14:creationId xmlns:p14="http://schemas.microsoft.com/office/powerpoint/2010/main" val="1602833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193C1-75C0-D5F8-B396-A2E9090ED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Cortical Layers by </a:t>
            </a:r>
            <a:r>
              <a:rPr lang="en-US" dirty="0" err="1"/>
              <a:t>Heatmpap</a:t>
            </a:r>
            <a:r>
              <a:rPr lang="en-US" dirty="0"/>
              <a:t> of canonical markers</a:t>
            </a:r>
          </a:p>
        </p:txBody>
      </p:sp>
      <p:pic>
        <p:nvPicPr>
          <p:cNvPr id="5" name="Content Placeholder 4" descr="A close-up of a heat map&#10;&#10;AI-generated content may be incorrect.">
            <a:extLst>
              <a:ext uri="{FF2B5EF4-FFF2-40B4-BE49-F238E27FC236}">
                <a16:creationId xmlns:a16="http://schemas.microsoft.com/office/drawing/2014/main" id="{86A784B5-1598-A6D2-63E5-80744EF36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74" t="1621"/>
          <a:stretch>
            <a:fillRect/>
          </a:stretch>
        </p:blipFill>
        <p:spPr>
          <a:xfrm>
            <a:off x="2666197" y="1896177"/>
            <a:ext cx="6942025" cy="4280786"/>
          </a:xfrm>
        </p:spPr>
      </p:pic>
    </p:spTree>
    <p:extLst>
      <p:ext uri="{BB962C8B-B14F-4D97-AF65-F5344CB8AC3E}">
        <p14:creationId xmlns:p14="http://schemas.microsoft.com/office/powerpoint/2010/main" val="733154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3315-7573-17F4-CA6C-D063EA28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Subsetting</a:t>
            </a:r>
            <a:r>
              <a:rPr lang="en-US" dirty="0"/>
              <a:t> WM and Representative Cortical Layer</a:t>
            </a:r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4292507-2464-A444-DD79-B4C1F50E11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683728" y="1027906"/>
            <a:ext cx="6824543" cy="4217743"/>
          </a:xfrm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C00CC3C9-627B-6C6F-0206-49D9149AB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056832"/>
            <a:ext cx="7772400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61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A32AF-A646-D4A3-F737-D4025954D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DEGs: WM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5B99A1D-D8CE-1F9C-05D1-63ABD731E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227937"/>
              </p:ext>
            </p:extLst>
          </p:nvPr>
        </p:nvGraphicFramePr>
        <p:xfrm>
          <a:off x="550984" y="1606697"/>
          <a:ext cx="11453445" cy="4652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370">
                  <a:extLst>
                    <a:ext uri="{9D8B030D-6E8A-4147-A177-3AD203B41FA5}">
                      <a16:colId xmlns:a16="http://schemas.microsoft.com/office/drawing/2014/main" val="329343556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952415839"/>
                    </a:ext>
                  </a:extLst>
                </a:gridCol>
                <a:gridCol w="7303475">
                  <a:extLst>
                    <a:ext uri="{9D8B030D-6E8A-4147-A177-3AD203B41FA5}">
                      <a16:colId xmlns:a16="http://schemas.microsoft.com/office/drawing/2014/main" val="1496779261"/>
                    </a:ext>
                  </a:extLst>
                </a:gridCol>
              </a:tblGrid>
              <a:tr h="934844">
                <a:tc>
                  <a:txBody>
                    <a:bodyPr/>
                    <a:lstStyle/>
                    <a:p>
                      <a:r>
                        <a:rPr lang="en-US" sz="1800" dirty="0"/>
                        <a:t>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Adjusted P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Biological Significance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548535"/>
                  </a:ext>
                </a:extLst>
              </a:tr>
              <a:tr h="731743"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MTRNR2L1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3.228798e-246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Predicted to be involved in negative regulation of execution phase of </a:t>
                      </a: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apoptosis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920203"/>
                  </a:ext>
                </a:extLst>
              </a:tr>
              <a:tr h="731743"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MTRNR2L8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1.290551e-191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Predicted to be involved in negative regulation of execution phase of </a:t>
                      </a: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apoptosis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838376"/>
                  </a:ext>
                </a:extLst>
              </a:tr>
              <a:tr h="541616"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RPS26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4.252685e-178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Encodes a ribosomal protein that is a component of the 40S subunit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227676"/>
                  </a:ext>
                </a:extLst>
              </a:tr>
              <a:tr h="1170789">
                <a:tc>
                  <a:txBody>
                    <a:bodyPr/>
                    <a:lstStyle/>
                    <a:p>
                      <a:pPr algn="l">
                        <a:lnSpc>
                          <a:spcPts val="1305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MT-CO2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5"/>
                        </a:lnSpc>
                        <a:buNone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1.353686e-131</a:t>
                      </a:r>
                      <a:endParaRPr lang="en-US" sz="6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Predicted to be involved in </a:t>
                      </a: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mitochondrial electron transport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cytochrome c to oxygen and positive regulation of vasoconstriction.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15800"/>
                  </a:ext>
                </a:extLst>
              </a:tr>
              <a:tr h="541616">
                <a:tc>
                  <a:txBody>
                    <a:bodyPr/>
                    <a:lstStyle/>
                    <a:p>
                      <a:pPr algn="l">
                        <a:lnSpc>
                          <a:spcPts val="1305"/>
                        </a:lnSpc>
                        <a:buNone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S100B</a:t>
                      </a:r>
                      <a:endParaRPr lang="en-US" sz="6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5"/>
                        </a:lnSpc>
                        <a:buNone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3.152575e-126</a:t>
                      </a:r>
                      <a:endParaRPr lang="en-US" sz="6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Regulation of a number of cellular processes such as cell cycle progression and differentiation; may function in </a:t>
                      </a: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neurite extension</a:t>
                      </a:r>
                      <a:endParaRPr 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868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9926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1BE0F-0C47-D83D-0B68-D14A7DD79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754EB-BB9E-FDA9-866D-09417C129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DEGs: Cortical Layer 5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8270C4E-1D57-EA58-568B-D4C4A6DF2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945644"/>
              </p:ext>
            </p:extLst>
          </p:nvPr>
        </p:nvGraphicFramePr>
        <p:xfrm>
          <a:off x="550984" y="1606697"/>
          <a:ext cx="11453445" cy="4750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678">
                  <a:extLst>
                    <a:ext uri="{9D8B030D-6E8A-4147-A177-3AD203B41FA5}">
                      <a16:colId xmlns:a16="http://schemas.microsoft.com/office/drawing/2014/main" val="3293435562"/>
                    </a:ext>
                  </a:extLst>
                </a:gridCol>
                <a:gridCol w="1805353">
                  <a:extLst>
                    <a:ext uri="{9D8B030D-6E8A-4147-A177-3AD203B41FA5}">
                      <a16:colId xmlns:a16="http://schemas.microsoft.com/office/drawing/2014/main" val="2952415839"/>
                    </a:ext>
                  </a:extLst>
                </a:gridCol>
                <a:gridCol w="7983414">
                  <a:extLst>
                    <a:ext uri="{9D8B030D-6E8A-4147-A177-3AD203B41FA5}">
                      <a16:colId xmlns:a16="http://schemas.microsoft.com/office/drawing/2014/main" val="1496779261"/>
                    </a:ext>
                  </a:extLst>
                </a:gridCol>
              </a:tblGrid>
              <a:tr h="934844">
                <a:tc>
                  <a:txBody>
                    <a:bodyPr/>
                    <a:lstStyle/>
                    <a:p>
                      <a:r>
                        <a:rPr lang="en-US" sz="1600" dirty="0"/>
                        <a:t>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Adjusted P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Biological Significance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548535"/>
                  </a:ext>
                </a:extLst>
              </a:tr>
              <a:tr h="731743"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MTRNR2L1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2.778286e-253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Predicted to be involved in negative regulation of execution phase of </a:t>
                      </a: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apoptosis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endParaRPr lang="en-US" sz="1200" dirty="0"/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920203"/>
                  </a:ext>
                </a:extLst>
              </a:tr>
              <a:tr h="731743"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GFAP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5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1.657914e-239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gene encodes one of the major intermediate filament proteins of </a:t>
                      </a: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mature astrocytes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838376"/>
                  </a:ext>
                </a:extLst>
              </a:tr>
              <a:tr h="541616"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MTRNR2L8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5"/>
                        </a:lnSpc>
                        <a:buNone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6.752977e-235</a:t>
                      </a:r>
                      <a:endParaRPr lang="en-US" sz="12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Predicted to be involved in negative regulation of execution phase of </a:t>
                      </a: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apoptosis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200" dirty="0"/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227676"/>
                  </a:ext>
                </a:extLst>
              </a:tr>
              <a:tr h="1170789">
                <a:tc>
                  <a:txBody>
                    <a:bodyPr/>
                    <a:lstStyle/>
                    <a:p>
                      <a:pPr algn="l">
                        <a:lnSpc>
                          <a:spcPts val="1305"/>
                        </a:lnSpc>
                        <a:buNone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MT-CO3</a:t>
                      </a:r>
                      <a:endParaRPr lang="en-US" sz="12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5"/>
                        </a:lnSpc>
                        <a:buNone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1.024688e-220</a:t>
                      </a:r>
                      <a:endParaRPr lang="en-US" sz="12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br>
                        <a:rPr lang="en-US" sz="1200" dirty="0"/>
                      </a:b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Predicted to contribute </a:t>
                      </a: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cytochrome-c oxidase activity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Involved in respiratory chain complex IV assembly. 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15800"/>
                  </a:ext>
                </a:extLst>
              </a:tr>
              <a:tr h="541616">
                <a:tc>
                  <a:txBody>
                    <a:bodyPr/>
                    <a:lstStyle/>
                    <a:p>
                      <a:pPr algn="l">
                        <a:lnSpc>
                          <a:spcPts val="1305"/>
                        </a:lnSpc>
                        <a:buNone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</a:t>
                      </a:r>
                      <a:endParaRPr lang="en-US" sz="12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5"/>
                        </a:lnSpc>
                        <a:buNone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9.690414e-212</a:t>
                      </a:r>
                      <a:endParaRPr lang="en-US" sz="12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The protein encoded by this gene is a secreted chaperone that can under some </a:t>
                      </a: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stress conditions 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also be found in the cell cytosol. It has been suggested to be involved in several basic biological events such as cell death, tumor progression, and </a:t>
                      </a: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neurodegenerative disorders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868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795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65B2CD-24E3-2136-22E6-BD4C39DBA9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284"/>
          <a:stretch>
            <a:fillRect/>
          </a:stretch>
        </p:blipFill>
        <p:spPr>
          <a:xfrm>
            <a:off x="0" y="0"/>
            <a:ext cx="5884985" cy="4942232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9E31F0-19EF-2F5C-EB0C-3F80475CB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133" y="2379785"/>
            <a:ext cx="5052164" cy="447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962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5770</TotalTime>
  <Words>276</Words>
  <Application>Microsoft Macintosh PowerPoint</Application>
  <PresentationFormat>Widescreen</PresentationFormat>
  <Paragraphs>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MTG Differential Gene Expression in Alzheimer Disease by cortical layer</vt:lpstr>
      <vt:lpstr>Dataset Selection</vt:lpstr>
      <vt:lpstr>Loading 10x Data</vt:lpstr>
      <vt:lpstr>Preprocessing Data: control</vt:lpstr>
      <vt:lpstr>Preprocessing Data: AD</vt:lpstr>
      <vt:lpstr>Merging Data</vt:lpstr>
      <vt:lpstr>Dimensionality Reduction &amp; Clustering</vt:lpstr>
      <vt:lpstr>Dimensionality Reduction &amp; Clustering</vt:lpstr>
      <vt:lpstr>Identifying Cortical Layers by Heatmpap of canonical markers</vt:lpstr>
      <vt:lpstr>Subsetting WM and Representative Cortical Layer</vt:lpstr>
      <vt:lpstr>DEGs: WM</vt:lpstr>
      <vt:lpstr>DEGs: Cortical Layer 5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Couger Jimenez jaramillo</dc:creator>
  <cp:lastModifiedBy>Couger Jimenez jaramillo</cp:lastModifiedBy>
  <cp:revision>12</cp:revision>
  <dcterms:created xsi:type="dcterms:W3CDTF">2026-01-12T15:03:53Z</dcterms:created>
  <dcterms:modified xsi:type="dcterms:W3CDTF">2026-01-16T15:14:04Z</dcterms:modified>
</cp:coreProperties>
</file>